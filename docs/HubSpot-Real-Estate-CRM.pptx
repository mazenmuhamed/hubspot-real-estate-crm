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371600"/>
          </a:xfrm>
          <a:prstGeom prst="rect">
            <a:avLst/>
          </a:prstGeom>
          <a:solidFill>
            <a:srgbClr val="FF7A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258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CRM on HubSpot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Lead-to-deal pipeline, automation and data governance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26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project with sample data  |  Mazen Mohamed, Operations &amp; CRM Specialist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7A5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management with built-in data quality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CRM on HubSpot  |  Mazen Mohamed  |  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sample leads from 5 sources: Website, Facebook, Referral, Walk-in, Portal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 Status: New, Contacted, Qualified, Unqualified, Unresponsive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view with data-quality cards: missing owner, email and lead source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lead gets an owner and a follow-up task automatically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87368" y="1298448"/>
            <a:ext cx="4626864" cy="262661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B"/>
            </a:solidFill>
            <a:prstDash val="solid"/>
          </a:ln>
        </p:spPr>
      </p:sp>
      <p:pic>
        <p:nvPicPr>
          <p:cNvPr id="8" name="Image 0" descr="/home/claude/img2/02-kanban-data-qu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325880"/>
            <a:ext cx="4572000" cy="257175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11480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by qualification status, with data-quality checks on top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7A5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pipeline built for real estate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CRM on HubSpot  |  Mazen Mohamed  | 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Stages: Qualification, Property Matching, Viewing Scheduled, Viewing Completed, Offer / Negotiation, Closed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probabilities (10% to 80%) drive a weighted forecast of SAR 11.23m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sample deals across Egypt, Saudi Arabia and UAE; entered in local currency and reported in the company currency (SAR)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stages reflect how property sales actually progress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87368" y="1298448"/>
            <a:ext cx="4626864" cy="262661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B"/>
            </a:solidFill>
            <a:prstDash val="solid"/>
          </a:ln>
        </p:spPr>
      </p:sp>
      <p:pic>
        <p:nvPicPr>
          <p:cNvPr id="8" name="Image 0" descr="/home/claude/img2/05-deals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325880"/>
            <a:ext cx="4572000" cy="257175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11480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board with totals and weighted amounts per stage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7A5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Automation: speed to lead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CRM on HubSpot  |  Mazen Mohamed  |  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contact created in Egypt or Saudi Arabia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owner, send in-app notification, wait, create follow-up task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 by region (Egypt/Saudi, UAE) and property type (Apartment, Villa)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deal creates tasks; new owner gets a follow-up task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23 follow-up tasks, no manual assignment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87368" y="1298448"/>
            <a:ext cx="4626864" cy="262661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B"/>
            </a:solidFill>
            <a:prstDash val="solid"/>
          </a:ln>
        </p:spPr>
      </p:sp>
      <p:pic>
        <p:nvPicPr>
          <p:cNvPr id="8" name="Image 0" descr="/home/claude/img2/04-workflow-ed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325880"/>
            <a:ext cx="4572000" cy="257175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11480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Owner-assignment workflow by region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7A5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and governance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CRM on HubSpot  |  Mazen Mohamed  | 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29768" y="1161288"/>
            <a:ext cx="4032504" cy="2292287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B"/>
            </a:solidFill>
            <a:prstDash val="solid"/>
          </a:ln>
        </p:spPr>
      </p:sp>
      <p:pic>
        <p:nvPicPr>
          <p:cNvPr id="7" name="Image 0" descr="/home/claude/img2/07-propert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977640" cy="223742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81728" y="1161288"/>
            <a:ext cx="4032504" cy="2292287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B"/>
            </a:solidFill>
            <a:prstDash val="solid"/>
          </a:ln>
        </p:spPr>
      </p:sp>
      <p:pic>
        <p:nvPicPr>
          <p:cNvPr id="9" name="Image 1" descr="/home/claude/img2/12-contact-reco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188720"/>
            <a:ext cx="3977640" cy="223742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3520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property group: Budget Maximum, Lead Source, Disqualification Reason, Next Follow-up Date, Preferred Location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record links company, deal and activity timeline; fill rates show which fields need enforcement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monitoring is a paid feature: first recommendation for production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7A5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one view for management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CRM on HubSpot  |  Mazen Mohamed  |  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29768" y="1161288"/>
            <a:ext cx="4032504" cy="2292287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B"/>
            </a:solidFill>
            <a:prstDash val="solid"/>
          </a:ln>
        </p:spPr>
      </p:sp>
      <p:pic>
        <p:nvPicPr>
          <p:cNvPr id="7" name="Image 0" descr="/home/claude/img2/08-dashboard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977640" cy="223742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81728" y="1161288"/>
            <a:ext cx="4032504" cy="2292287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B"/>
            </a:solidFill>
            <a:prstDash val="solid"/>
          </a:ln>
        </p:spPr>
      </p:sp>
      <p:pic>
        <p:nvPicPr>
          <p:cNvPr id="9" name="Image 1" descr="/home/claude/img2/11-dashboard-budge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188720"/>
            <a:ext cx="3977640" cy="223742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361188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qualification report, total deal amount, contact sources and deals by stage and owner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budgets by country and region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answer: where do leads come from, and where do deals get stuck?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7A5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would build next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CRM on HubSpot  |  Mazen Mohamed  |  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same design in Zoho CRM: Lead to Contact to Deal, Blueprint and Workflow Rules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Speed-to-lead KPI: time to first contact, per owner and per source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management and data-quality monitoring (paid tier)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lead capture through an automation platform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Lost-reason reporting to learn why deals close lost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built on a HubSpot account with sample data. It is a learning project, not a production system.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Estate CRM on HubSpot</dc:title>
  <dc:subject>PptxGenJS Presentation</dc:subject>
  <dc:creator>Mazen Mohamed</dc:creator>
  <cp:lastModifiedBy>Mazen Mohamed</cp:lastModifiedBy>
  <cp:revision>1</cp:revision>
  <dcterms:created xsi:type="dcterms:W3CDTF">2026-10-24T03:39:53Z</dcterms:created>
  <dcterms:modified xsi:type="dcterms:W3CDTF">2026-10-24T03:39:53Z</dcterms:modified>
</cp:coreProperties>
</file>